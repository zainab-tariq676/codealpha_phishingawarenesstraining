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M Sans Bold" charset="1" panose="00000000000000000000"/>
      <p:regular r:id="rId18"/>
    </p:embeddedFont>
    <p:embeddedFont>
      <p:font typeface="Akzidenz-Grotesk Bold" charset="1" panose="02000803050000020004"/>
      <p:regular r:id="rId19"/>
    </p:embeddedFont>
    <p:embeddedFont>
      <p:font typeface="DM San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20250" y="0"/>
            <a:ext cx="8667750" cy="10287000"/>
          </a:xfrm>
          <a:custGeom>
            <a:avLst/>
            <a:gdLst/>
            <a:ahLst/>
            <a:cxnLst/>
            <a:rect r="r" b="b" t="t" l="l"/>
            <a:pathLst>
              <a:path h="10287000" w="8667750">
                <a:moveTo>
                  <a:pt x="0" y="0"/>
                </a:moveTo>
                <a:lnTo>
                  <a:pt x="8667750" y="0"/>
                </a:lnTo>
                <a:lnTo>
                  <a:pt x="8667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" r="0" b="-5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905750" y="0"/>
            <a:ext cx="4381500" cy="10287000"/>
            <a:chOff x="0" y="0"/>
            <a:chExt cx="5842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4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31F">
                <a:alpha val="7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842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114425"/>
            <a:ext cx="68580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9D9D1"/>
                </a:solidFill>
                <a:latin typeface="DM Sans Bold"/>
                <a:ea typeface="DM Sans Bold"/>
                <a:cs typeface="DM Sans Bold"/>
                <a:sym typeface="DM Sans Bold"/>
              </a:rPr>
              <a:t>CYBERSECURITY INTERNSHIP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38375"/>
            <a:ext cx="9048750" cy="294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4"/>
              </a:lnSpc>
            </a:pPr>
            <a:r>
              <a:rPr lang="en-US" sz="78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Phishing</a:t>
            </a:r>
          </a:p>
          <a:p>
            <a:pPr algn="l">
              <a:lnSpc>
                <a:spcPts val="7644"/>
              </a:lnSpc>
            </a:pPr>
            <a:r>
              <a:rPr lang="en-US" sz="78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Awareness</a:t>
            </a:r>
          </a:p>
          <a:p>
            <a:pPr algn="l">
              <a:lnSpc>
                <a:spcPts val="7644"/>
              </a:lnSpc>
            </a:pPr>
            <a:r>
              <a:rPr lang="en-US" sz="78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Training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000750"/>
            <a:ext cx="7429500" cy="39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1"/>
              </a:lnSpc>
            </a:pPr>
            <a:r>
              <a:rPr lang="en-US" sz="26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Understanding and Preventing Phishing Attacks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7067550"/>
            <a:ext cx="1143000" cy="57150"/>
            <a:chOff x="0" y="0"/>
            <a:chExt cx="1524000" cy="76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4000" cy="76200"/>
            </a:xfrm>
            <a:custGeom>
              <a:avLst/>
              <a:gdLst/>
              <a:ahLst/>
              <a:cxnLst/>
              <a:rect r="r" b="b" t="t" l="l"/>
              <a:pathLst>
                <a:path h="762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9D9D1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24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7391400"/>
            <a:ext cx="7239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B6F36B"/>
                </a:solidFill>
                <a:latin typeface="DM Sans Bold"/>
                <a:ea typeface="DM Sans Bold"/>
                <a:cs typeface="DM Sans Bold"/>
                <a:sym typeface="DM Sans Bold"/>
              </a:rPr>
              <a:t>Learn how to spot — and stop — phishing.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9429750"/>
            <a:ext cx="16230600" cy="441960"/>
            <a:chOff x="0" y="0"/>
            <a:chExt cx="21640800" cy="589280"/>
          </a:xfrm>
        </p:grpSpPr>
        <p:sp>
          <p:nvSpPr>
            <p:cNvPr name="AutoShape 14" id="14"/>
            <p:cNvSpPr/>
            <p:nvPr/>
          </p:nvSpPr>
          <p:spPr>
            <a:xfrm>
              <a:off x="0" y="12700"/>
              <a:ext cx="21640800" cy="0"/>
            </a:xfrm>
            <a:prstGeom prst="line">
              <a:avLst/>
            </a:prstGeom>
            <a:ln cap="flat" w="25400">
              <a:solidFill>
                <a:srgbClr val="18324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298450"/>
              <a:ext cx="9652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8CA2A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PHISHING AWARENESS  •  INTERNSHIP PROJECT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0726400" y="215900"/>
              <a:ext cx="9144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39D9D1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52475"/>
            <a:ext cx="4762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9D9D1"/>
                </a:solidFill>
                <a:latin typeface="DM Sans Bold"/>
                <a:ea typeface="DM Sans Bold"/>
                <a:cs typeface="DM Sans Bold"/>
                <a:sym typeface="DM Sans Bold"/>
              </a:rPr>
              <a:t>THE CORE IDEA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323975"/>
            <a:ext cx="87630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025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What is phishing?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90875"/>
            <a:ext cx="7239000" cy="128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025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 fake identity.</a:t>
            </a:r>
          </a:p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025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 real consequence.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7010400"/>
            <a:ext cx="5810250" cy="133350"/>
            <a:chOff x="0" y="0"/>
            <a:chExt cx="7747000" cy="177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47000" cy="177800"/>
            </a:xfrm>
            <a:custGeom>
              <a:avLst/>
              <a:gdLst/>
              <a:ahLst/>
              <a:cxnLst/>
              <a:rect r="r" b="b" t="t" l="l"/>
              <a:pathLst>
                <a:path h="177800" w="7747000">
                  <a:moveTo>
                    <a:pt x="0" y="0"/>
                  </a:moveTo>
                  <a:lnTo>
                    <a:pt x="7747000" y="0"/>
                  </a:lnTo>
                  <a:lnTo>
                    <a:pt x="7747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39D9D1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747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77250" y="2571750"/>
            <a:ext cx="7810500" cy="933450"/>
            <a:chOff x="0" y="0"/>
            <a:chExt cx="10414000" cy="12446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92200" cy="1092200"/>
              <a:chOff x="0" y="0"/>
              <a:chExt cx="1092200" cy="1092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39D9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01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397000" y="1219200"/>
              <a:ext cx="8763000" cy="25400"/>
              <a:chOff x="0" y="0"/>
              <a:chExt cx="8763000" cy="25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7630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8763000">
                    <a:moveTo>
                      <a:pt x="0" y="0"/>
                    </a:moveTo>
                    <a:lnTo>
                      <a:pt x="8763000" y="0"/>
                    </a:lnTo>
                    <a:lnTo>
                      <a:pt x="8763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FDBD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87630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524000" y="352425"/>
              <a:ext cx="8890000" cy="490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38"/>
                </a:lnSpc>
              </a:pPr>
              <a:r>
                <a:rPr lang="en-US" sz="2325">
                  <a:solidFill>
                    <a:srgbClr val="102534"/>
                  </a:solidFill>
                  <a:latin typeface="DM Sans"/>
                  <a:ea typeface="DM Sans"/>
                  <a:cs typeface="DM Sans"/>
                  <a:sym typeface="DM Sans"/>
                </a:rPr>
                <a:t>Phishing is a type of cyber attack.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77250" y="4048125"/>
            <a:ext cx="7810500" cy="933450"/>
            <a:chOff x="0" y="0"/>
            <a:chExt cx="10414000" cy="12446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92200" cy="1092200"/>
              <a:chOff x="0" y="0"/>
              <a:chExt cx="1092200" cy="10922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39D9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02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397000" y="1219200"/>
              <a:ext cx="8763000" cy="25400"/>
              <a:chOff x="0" y="0"/>
              <a:chExt cx="8763000" cy="254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7630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8763000">
                    <a:moveTo>
                      <a:pt x="0" y="0"/>
                    </a:moveTo>
                    <a:lnTo>
                      <a:pt x="8763000" y="0"/>
                    </a:lnTo>
                    <a:lnTo>
                      <a:pt x="8763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FDBD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87630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524000" y="352425"/>
              <a:ext cx="8890000" cy="490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38"/>
                </a:lnSpc>
              </a:pPr>
              <a:r>
                <a:rPr lang="en-US" sz="2325">
                  <a:solidFill>
                    <a:srgbClr val="102534"/>
                  </a:solidFill>
                  <a:latin typeface="DM Sans"/>
                  <a:ea typeface="DM Sans"/>
                  <a:cs typeface="DM Sans"/>
                  <a:sym typeface="DM Sans"/>
                </a:rPr>
                <a:t>Attackers try to steal your personal information.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477250" y="5715000"/>
            <a:ext cx="7810500" cy="933450"/>
            <a:chOff x="0" y="0"/>
            <a:chExt cx="10414000" cy="12446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092200" cy="1092200"/>
              <a:chOff x="0" y="0"/>
              <a:chExt cx="1092200" cy="10922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B6F36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03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397000" y="1219200"/>
              <a:ext cx="8763000" cy="25400"/>
              <a:chOff x="0" y="0"/>
              <a:chExt cx="8763000" cy="254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7630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8763000">
                    <a:moveTo>
                      <a:pt x="0" y="0"/>
                    </a:moveTo>
                    <a:lnTo>
                      <a:pt x="8763000" y="0"/>
                    </a:lnTo>
                    <a:lnTo>
                      <a:pt x="8763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FDBD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87630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1524000" y="352425"/>
              <a:ext cx="8890000" cy="490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38"/>
                </a:lnSpc>
              </a:pPr>
              <a:r>
                <a:rPr lang="en-US" sz="2325">
                  <a:solidFill>
                    <a:srgbClr val="102534"/>
                  </a:solidFill>
                  <a:latin typeface="DM Sans"/>
                  <a:ea typeface="DM Sans"/>
                  <a:cs typeface="DM Sans"/>
                  <a:sym typeface="DM Sans"/>
                </a:rPr>
                <a:t>They pretend to be someone you trust.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8700" y="9429750"/>
            <a:ext cx="16230600" cy="441960"/>
            <a:chOff x="0" y="0"/>
            <a:chExt cx="21640800" cy="589280"/>
          </a:xfrm>
        </p:grpSpPr>
        <p:sp>
          <p:nvSpPr>
            <p:cNvPr name="AutoShape 33" id="33"/>
            <p:cNvSpPr/>
            <p:nvPr/>
          </p:nvSpPr>
          <p:spPr>
            <a:xfrm>
              <a:off x="0" y="12700"/>
              <a:ext cx="21640800" cy="0"/>
            </a:xfrm>
            <a:prstGeom prst="line">
              <a:avLst/>
            </a:prstGeom>
            <a:ln cap="flat" w="25400">
              <a:solidFill>
                <a:srgbClr val="CFDBD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4" id="34"/>
            <p:cNvSpPr txBox="true"/>
            <p:nvPr/>
          </p:nvSpPr>
          <p:spPr>
            <a:xfrm rot="0">
              <a:off x="0" y="298450"/>
              <a:ext cx="9652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667D8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PHISHING AWARENESS  •  INTERNSHIP PROJECT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0726400" y="215900"/>
              <a:ext cx="9144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10253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57225"/>
            <a:ext cx="49530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9D9D1"/>
                </a:solidFill>
                <a:latin typeface="DM Sans Bold"/>
                <a:ea typeface="DM Sans Bold"/>
                <a:cs typeface="DM Sans Bold"/>
                <a:sym typeface="DM Sans Bold"/>
              </a:rPr>
              <a:t>ATTACK SURFACES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28725"/>
            <a:ext cx="1190625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Four ways the bait reaches you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143250"/>
            <a:ext cx="7239000" cy="2095500"/>
            <a:chOff x="0" y="0"/>
            <a:chExt cx="9652000" cy="2794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652000" cy="2794000"/>
              <a:chOff x="0" y="0"/>
              <a:chExt cx="9652000" cy="2794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652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9652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431800" y="660400"/>
              <a:ext cx="1092200" cy="1092200"/>
              <a:chOff x="0" y="0"/>
              <a:chExt cx="1092200" cy="10922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39D9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@</a:t>
                </a: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803400" y="384175"/>
              <a:ext cx="7112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EMAIL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803400" y="1184275"/>
              <a:ext cx="7112000" cy="395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5"/>
                </a:lnSpc>
              </a:pPr>
              <a:r>
                <a:rPr lang="en-US" sz="1950">
                  <a:solidFill>
                    <a:srgbClr val="8CA2AD"/>
                  </a:solidFill>
                  <a:latin typeface="DM Sans"/>
                  <a:ea typeface="DM Sans"/>
                  <a:cs typeface="DM Sans"/>
                  <a:sym typeface="DM Sans"/>
                </a:rPr>
                <a:t>Fake emails designed to trick you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24950" y="3143250"/>
            <a:ext cx="7239000" cy="2095500"/>
            <a:chOff x="0" y="0"/>
            <a:chExt cx="9652000" cy="2794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652000" cy="2794000"/>
              <a:chOff x="0" y="0"/>
              <a:chExt cx="9652000" cy="2794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652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9652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431800" y="660400"/>
              <a:ext cx="1092200" cy="1092200"/>
              <a:chOff x="0" y="0"/>
              <a:chExt cx="1092200" cy="10922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39D9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S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803400" y="384175"/>
              <a:ext cx="7112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SPEAR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803400" y="1184275"/>
              <a:ext cx="7112000" cy="395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5"/>
                </a:lnSpc>
              </a:pPr>
              <a:r>
                <a:rPr lang="en-US" sz="1950">
                  <a:solidFill>
                    <a:srgbClr val="8CA2AD"/>
                  </a:solidFill>
                  <a:latin typeface="DM Sans"/>
                  <a:ea typeface="DM Sans"/>
                  <a:cs typeface="DM Sans"/>
                  <a:sym typeface="DM Sans"/>
                </a:rPr>
                <a:t>Personalized attacks built around you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5905500"/>
            <a:ext cx="7239000" cy="2095500"/>
            <a:chOff x="0" y="0"/>
            <a:chExt cx="9652000" cy="2794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652000" cy="2794000"/>
              <a:chOff x="0" y="0"/>
              <a:chExt cx="9652000" cy="2794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652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9652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431800" y="660400"/>
              <a:ext cx="1092200" cy="1092200"/>
              <a:chOff x="0" y="0"/>
              <a:chExt cx="1092200" cy="10922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39D9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SMS</a:t>
                </a: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803400" y="384175"/>
              <a:ext cx="7112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SMISH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803400" y="1184275"/>
              <a:ext cx="7112000" cy="395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5"/>
                </a:lnSpc>
              </a:pPr>
              <a:r>
                <a:rPr lang="en-US" sz="1950">
                  <a:solidFill>
                    <a:srgbClr val="8CA2AD"/>
                  </a:solidFill>
                  <a:latin typeface="DM Sans"/>
                  <a:ea typeface="DM Sans"/>
                  <a:cs typeface="DM Sans"/>
                  <a:sym typeface="DM Sans"/>
                </a:rPr>
                <a:t>Phishing delivered by text message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24950" y="5905500"/>
            <a:ext cx="7239000" cy="2095500"/>
            <a:chOff x="0" y="0"/>
            <a:chExt cx="9652000" cy="2794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9652000" cy="2794000"/>
              <a:chOff x="0" y="0"/>
              <a:chExt cx="9652000" cy="2794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652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9652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431800" y="660400"/>
              <a:ext cx="1092200" cy="1092200"/>
              <a:chOff x="0" y="0"/>
              <a:chExt cx="1092200" cy="1092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B6F36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TEL</a:t>
                </a: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803400" y="384175"/>
              <a:ext cx="7112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VISH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803400" y="1184275"/>
              <a:ext cx="7112000" cy="395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5"/>
                </a:lnSpc>
              </a:pPr>
              <a:r>
                <a:rPr lang="en-US" sz="1950">
                  <a:solidFill>
                    <a:srgbClr val="8CA2AD"/>
                  </a:solidFill>
                  <a:latin typeface="DM Sans"/>
                  <a:ea typeface="DM Sans"/>
                  <a:cs typeface="DM Sans"/>
                  <a:sym typeface="DM Sans"/>
                </a:rPr>
                <a:t>Phishing delivered through phone calls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28700" y="9429750"/>
            <a:ext cx="16230600" cy="441960"/>
            <a:chOff x="0" y="0"/>
            <a:chExt cx="21640800" cy="589280"/>
          </a:xfrm>
        </p:grpSpPr>
        <p:sp>
          <p:nvSpPr>
            <p:cNvPr name="AutoShape 41" id="41"/>
            <p:cNvSpPr/>
            <p:nvPr/>
          </p:nvSpPr>
          <p:spPr>
            <a:xfrm>
              <a:off x="0" y="12700"/>
              <a:ext cx="21640800" cy="0"/>
            </a:xfrm>
            <a:prstGeom prst="line">
              <a:avLst/>
            </a:prstGeom>
            <a:ln cap="flat" w="25400">
              <a:solidFill>
                <a:srgbClr val="18324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2" id="42"/>
            <p:cNvSpPr txBox="true"/>
            <p:nvPr/>
          </p:nvSpPr>
          <p:spPr>
            <a:xfrm rot="0">
              <a:off x="0" y="298450"/>
              <a:ext cx="9652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8CA2A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PHISHING AWARENESS  •  INTERNSHIP PROJECT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0726400" y="215900"/>
              <a:ext cx="9144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39D9D1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85800"/>
            <a:ext cx="4762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9D9D1"/>
                </a:solidFill>
                <a:latin typeface="DM Sans Bold"/>
                <a:ea typeface="DM Sans Bold"/>
                <a:cs typeface="DM Sans Bold"/>
                <a:sym typeface="DM Sans Bold"/>
              </a:rPr>
              <a:t>ATTACK CHAIN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57300"/>
            <a:ext cx="121920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025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One click can complete the chain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24000" y="3048000"/>
            <a:ext cx="4286250" cy="3212783"/>
            <a:chOff x="0" y="0"/>
            <a:chExt cx="5715000" cy="428371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184400" y="0"/>
              <a:ext cx="1092200" cy="1092200"/>
              <a:chOff x="0" y="0"/>
              <a:chExt cx="1092200" cy="1092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39D9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1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1651000"/>
              <a:ext cx="5461000" cy="1422400"/>
              <a:chOff x="0" y="0"/>
              <a:chExt cx="5461000" cy="14224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461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5461000">
                    <a:moveTo>
                      <a:pt x="41349" y="0"/>
                    </a:moveTo>
                    <a:lnTo>
                      <a:pt x="5419651" y="0"/>
                    </a:lnTo>
                    <a:cubicBezTo>
                      <a:pt x="5430618" y="0"/>
                      <a:pt x="5441135" y="4356"/>
                      <a:pt x="5448889" y="12111"/>
                    </a:cubicBezTo>
                    <a:cubicBezTo>
                      <a:pt x="5456644" y="19865"/>
                      <a:pt x="5461000" y="30382"/>
                      <a:pt x="5461000" y="41349"/>
                    </a:cubicBezTo>
                    <a:lnTo>
                      <a:pt x="5461000" y="1381051"/>
                    </a:lnTo>
                    <a:cubicBezTo>
                      <a:pt x="5461000" y="1392018"/>
                      <a:pt x="5456644" y="1402535"/>
                      <a:pt x="5448889" y="1410289"/>
                    </a:cubicBezTo>
                    <a:cubicBezTo>
                      <a:pt x="5441135" y="1418044"/>
                      <a:pt x="5430618" y="1422400"/>
                      <a:pt x="5419651" y="1422400"/>
                    </a:cubicBezTo>
                    <a:lnTo>
                      <a:pt x="41349" y="1422400"/>
                    </a:lnTo>
                    <a:cubicBezTo>
                      <a:pt x="30382" y="1422400"/>
                      <a:pt x="19865" y="1418044"/>
                      <a:pt x="12111" y="1410289"/>
                    </a:cubicBezTo>
                    <a:cubicBezTo>
                      <a:pt x="4356" y="1402535"/>
                      <a:pt x="0" y="1392018"/>
                      <a:pt x="0" y="1381051"/>
                    </a:cubicBezTo>
                    <a:lnTo>
                      <a:pt x="0" y="41349"/>
                    </a:lnTo>
                    <a:cubicBezTo>
                      <a:pt x="0" y="30382"/>
                      <a:pt x="4356" y="19865"/>
                      <a:pt x="12111" y="12111"/>
                    </a:cubicBezTo>
                    <a:cubicBezTo>
                      <a:pt x="19865" y="4356"/>
                      <a:pt x="30382" y="0"/>
                      <a:pt x="41349" y="0"/>
                    </a:cubicBez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0"/>
                <a:ext cx="5461000" cy="1422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 b="true">
                    <a:solidFill>
                      <a:srgbClr val="FFFFF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BAIT</a:t>
                </a: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254000" y="3409950"/>
              <a:ext cx="5461000" cy="873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2"/>
                </a:lnSpc>
              </a:pPr>
              <a:r>
                <a:rPr lang="en-US" sz="2025">
                  <a:solidFill>
                    <a:srgbClr val="102534"/>
                  </a:solidFill>
                  <a:latin typeface="DM Sans"/>
                  <a:ea typeface="DM Sans"/>
                  <a:cs typeface="DM Sans"/>
                  <a:sym typeface="DM Sans"/>
                </a:rPr>
                <a:t>Attacker sends a fake email or message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810250" y="4819650"/>
            <a:ext cx="1000125" cy="0"/>
          </a:xfrm>
          <a:prstGeom prst="line">
            <a:avLst/>
          </a:prstGeom>
          <a:ln cap="rnd" w="57150">
            <a:solidFill>
              <a:srgbClr val="39D9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7000875" y="3048000"/>
            <a:ext cx="4286250" cy="3212783"/>
            <a:chOff x="0" y="0"/>
            <a:chExt cx="5715000" cy="428371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2184400" y="0"/>
              <a:ext cx="1092200" cy="1092200"/>
              <a:chOff x="0" y="0"/>
              <a:chExt cx="1092200" cy="1092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39D9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2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651000"/>
              <a:ext cx="5461000" cy="1422400"/>
              <a:chOff x="0" y="0"/>
              <a:chExt cx="5461000" cy="1422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461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5461000">
                    <a:moveTo>
                      <a:pt x="41349" y="0"/>
                    </a:moveTo>
                    <a:lnTo>
                      <a:pt x="5419651" y="0"/>
                    </a:lnTo>
                    <a:cubicBezTo>
                      <a:pt x="5430618" y="0"/>
                      <a:pt x="5441135" y="4356"/>
                      <a:pt x="5448889" y="12111"/>
                    </a:cubicBezTo>
                    <a:cubicBezTo>
                      <a:pt x="5456644" y="19865"/>
                      <a:pt x="5461000" y="30382"/>
                      <a:pt x="5461000" y="41349"/>
                    </a:cubicBezTo>
                    <a:lnTo>
                      <a:pt x="5461000" y="1381051"/>
                    </a:lnTo>
                    <a:cubicBezTo>
                      <a:pt x="5461000" y="1392018"/>
                      <a:pt x="5456644" y="1402535"/>
                      <a:pt x="5448889" y="1410289"/>
                    </a:cubicBezTo>
                    <a:cubicBezTo>
                      <a:pt x="5441135" y="1418044"/>
                      <a:pt x="5430618" y="1422400"/>
                      <a:pt x="5419651" y="1422400"/>
                    </a:cubicBezTo>
                    <a:lnTo>
                      <a:pt x="41349" y="1422400"/>
                    </a:lnTo>
                    <a:cubicBezTo>
                      <a:pt x="30382" y="1422400"/>
                      <a:pt x="19865" y="1418044"/>
                      <a:pt x="12111" y="1410289"/>
                    </a:cubicBezTo>
                    <a:cubicBezTo>
                      <a:pt x="4356" y="1402535"/>
                      <a:pt x="0" y="1392018"/>
                      <a:pt x="0" y="1381051"/>
                    </a:cubicBezTo>
                    <a:lnTo>
                      <a:pt x="0" y="41349"/>
                    </a:lnTo>
                    <a:cubicBezTo>
                      <a:pt x="0" y="30382"/>
                      <a:pt x="4356" y="19865"/>
                      <a:pt x="12111" y="12111"/>
                    </a:cubicBezTo>
                    <a:cubicBezTo>
                      <a:pt x="19865" y="4356"/>
                      <a:pt x="30382" y="0"/>
                      <a:pt x="41349" y="0"/>
                    </a:cubicBez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5461000" cy="1422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 b="true">
                    <a:solidFill>
                      <a:srgbClr val="FFFFF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CLICK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54000" y="3409950"/>
              <a:ext cx="5461000" cy="873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2"/>
                </a:lnSpc>
              </a:pPr>
              <a:r>
                <a:rPr lang="en-US" sz="2025">
                  <a:solidFill>
                    <a:srgbClr val="102534"/>
                  </a:solidFill>
                  <a:latin typeface="DM Sans"/>
                  <a:ea typeface="DM Sans"/>
                  <a:cs typeface="DM Sans"/>
                  <a:sym typeface="DM Sans"/>
                </a:rPr>
                <a:t>You open a malicious link or attachment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1287125" y="4819650"/>
            <a:ext cx="1000125" cy="0"/>
          </a:xfrm>
          <a:prstGeom prst="line">
            <a:avLst/>
          </a:prstGeom>
          <a:ln cap="rnd" w="57150">
            <a:solidFill>
              <a:srgbClr val="39D9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2477750" y="3048000"/>
            <a:ext cx="4286250" cy="3212783"/>
            <a:chOff x="0" y="0"/>
            <a:chExt cx="5715000" cy="428371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2184400" y="0"/>
              <a:ext cx="1092200" cy="1092200"/>
              <a:chOff x="0" y="0"/>
              <a:chExt cx="1092200" cy="10922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FF5C6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3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651000"/>
              <a:ext cx="5461000" cy="1422400"/>
              <a:chOff x="0" y="0"/>
              <a:chExt cx="5461000" cy="1422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4610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5461000">
                    <a:moveTo>
                      <a:pt x="41349" y="0"/>
                    </a:moveTo>
                    <a:lnTo>
                      <a:pt x="5419651" y="0"/>
                    </a:lnTo>
                    <a:cubicBezTo>
                      <a:pt x="5430618" y="0"/>
                      <a:pt x="5441135" y="4356"/>
                      <a:pt x="5448889" y="12111"/>
                    </a:cubicBezTo>
                    <a:cubicBezTo>
                      <a:pt x="5456644" y="19865"/>
                      <a:pt x="5461000" y="30382"/>
                      <a:pt x="5461000" y="41349"/>
                    </a:cubicBezTo>
                    <a:lnTo>
                      <a:pt x="5461000" y="1381051"/>
                    </a:lnTo>
                    <a:cubicBezTo>
                      <a:pt x="5461000" y="1392018"/>
                      <a:pt x="5456644" y="1402535"/>
                      <a:pt x="5448889" y="1410289"/>
                    </a:cubicBezTo>
                    <a:cubicBezTo>
                      <a:pt x="5441135" y="1418044"/>
                      <a:pt x="5430618" y="1422400"/>
                      <a:pt x="5419651" y="1422400"/>
                    </a:cubicBezTo>
                    <a:lnTo>
                      <a:pt x="41349" y="1422400"/>
                    </a:lnTo>
                    <a:cubicBezTo>
                      <a:pt x="30382" y="1422400"/>
                      <a:pt x="19865" y="1418044"/>
                      <a:pt x="12111" y="1410289"/>
                    </a:cubicBezTo>
                    <a:cubicBezTo>
                      <a:pt x="4356" y="1402535"/>
                      <a:pt x="0" y="1392018"/>
                      <a:pt x="0" y="1381051"/>
                    </a:cubicBezTo>
                    <a:lnTo>
                      <a:pt x="0" y="41349"/>
                    </a:lnTo>
                    <a:cubicBezTo>
                      <a:pt x="0" y="30382"/>
                      <a:pt x="4356" y="19865"/>
                      <a:pt x="12111" y="12111"/>
                    </a:cubicBezTo>
                    <a:cubicBezTo>
                      <a:pt x="19865" y="4356"/>
                      <a:pt x="30382" y="0"/>
                      <a:pt x="41349" y="0"/>
                    </a:cubicBezTo>
                    <a:close/>
                  </a:path>
                </a:pathLst>
              </a:custGeom>
              <a:solidFill>
                <a:srgbClr val="FF5C6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0"/>
                <a:ext cx="5461000" cy="1422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 b="true">
                    <a:solidFill>
                      <a:srgbClr val="FFFFF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IMPACT</a:t>
                </a: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54000" y="3409950"/>
              <a:ext cx="5461000" cy="873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2"/>
                </a:lnSpc>
              </a:pPr>
              <a:r>
                <a:rPr lang="en-US" sz="2025">
                  <a:solidFill>
                    <a:srgbClr val="102534"/>
                  </a:solidFill>
                  <a:latin typeface="DM Sans"/>
                  <a:ea typeface="DM Sans"/>
                  <a:cs typeface="DM Sans"/>
                  <a:sym typeface="DM Sans"/>
                </a:rPr>
                <a:t>Data is stolen or the device is infected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700" y="9429750"/>
            <a:ext cx="16230600" cy="441960"/>
            <a:chOff x="0" y="0"/>
            <a:chExt cx="21640800" cy="589280"/>
          </a:xfrm>
        </p:grpSpPr>
        <p:sp>
          <p:nvSpPr>
            <p:cNvPr name="AutoShape 31" id="31"/>
            <p:cNvSpPr/>
            <p:nvPr/>
          </p:nvSpPr>
          <p:spPr>
            <a:xfrm>
              <a:off x="0" y="12700"/>
              <a:ext cx="21640800" cy="0"/>
            </a:xfrm>
            <a:prstGeom prst="line">
              <a:avLst/>
            </a:prstGeom>
            <a:ln cap="flat" w="25400">
              <a:solidFill>
                <a:srgbClr val="CFDBD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2" id="32"/>
            <p:cNvSpPr txBox="true"/>
            <p:nvPr/>
          </p:nvSpPr>
          <p:spPr>
            <a:xfrm rot="0">
              <a:off x="0" y="298450"/>
              <a:ext cx="9652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667D8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PHISHING AWARENESS  •  INTERNSHIP PROJECT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0726400" y="215900"/>
              <a:ext cx="9144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10253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57225"/>
            <a:ext cx="49530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9D9D1"/>
                </a:solidFill>
                <a:latin typeface="DM Sans Bold"/>
                <a:ea typeface="DM Sans Bold"/>
                <a:cs typeface="DM Sans Bold"/>
                <a:sym typeface="DM Sans Bold"/>
              </a:rPr>
              <a:t>INBOX RED FLAGS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28725"/>
            <a:ext cx="1190625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Pause when something feels off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143875"/>
            <a:ext cx="1190625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8CA2AD"/>
                </a:solidFill>
                <a:latin typeface="DM Sans"/>
                <a:ea typeface="DM Sans"/>
                <a:cs typeface="DM Sans"/>
                <a:sym typeface="DM Sans"/>
              </a:rPr>
              <a:t>One sign may be innocent. Several signs together demand caution.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143250"/>
            <a:ext cx="7239000" cy="1666875"/>
            <a:chOff x="0" y="0"/>
            <a:chExt cx="9652000" cy="22225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652000" cy="2222500"/>
              <a:chOff x="0" y="0"/>
              <a:chExt cx="9652000" cy="22225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652000" cy="2222500"/>
              </a:xfrm>
              <a:custGeom>
                <a:avLst/>
                <a:gdLst/>
                <a:ahLst/>
                <a:cxnLst/>
                <a:rect r="r" b="b" t="t" l="l"/>
                <a:pathLst>
                  <a:path h="22225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2222500"/>
                    </a:lnTo>
                    <a:lnTo>
                      <a:pt x="0" y="2222500"/>
                    </a:ln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652000" cy="226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30200" y="546100"/>
              <a:ext cx="1092200" cy="1092200"/>
              <a:chOff x="0" y="0"/>
              <a:chExt cx="1092200" cy="1092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FF5C6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!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676400" y="600075"/>
              <a:ext cx="7493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Unexpected or urgent requests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24950" y="3143250"/>
            <a:ext cx="7239000" cy="1666875"/>
            <a:chOff x="0" y="0"/>
            <a:chExt cx="9652000" cy="22225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652000" cy="2222500"/>
              <a:chOff x="0" y="0"/>
              <a:chExt cx="9652000" cy="22225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652000" cy="2222500"/>
              </a:xfrm>
              <a:custGeom>
                <a:avLst/>
                <a:gdLst/>
                <a:ahLst/>
                <a:cxnLst/>
                <a:rect r="r" b="b" t="t" l="l"/>
                <a:pathLst>
                  <a:path h="22225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2222500"/>
                    </a:lnTo>
                    <a:lnTo>
                      <a:pt x="0" y="2222500"/>
                    </a:ln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9652000" cy="226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330200" y="546100"/>
              <a:ext cx="1092200" cy="1092200"/>
              <a:chOff x="0" y="0"/>
              <a:chExt cx="1092200" cy="10922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FF5C6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@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676400" y="600075"/>
              <a:ext cx="7493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Strange sender address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5381625"/>
            <a:ext cx="7239000" cy="1666875"/>
            <a:chOff x="0" y="0"/>
            <a:chExt cx="9652000" cy="22225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652000" cy="2222500"/>
              <a:chOff x="0" y="0"/>
              <a:chExt cx="9652000" cy="22225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652000" cy="2222500"/>
              </a:xfrm>
              <a:custGeom>
                <a:avLst/>
                <a:gdLst/>
                <a:ahLst/>
                <a:cxnLst/>
                <a:rect r="r" b="b" t="t" l="l"/>
                <a:pathLst>
                  <a:path h="22225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2222500"/>
                    </a:lnTo>
                    <a:lnTo>
                      <a:pt x="0" y="2222500"/>
                    </a:ln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9652000" cy="226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30200" y="546100"/>
              <a:ext cx="1092200" cy="1092200"/>
              <a:chOff x="0" y="0"/>
              <a:chExt cx="1092200" cy="10922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FF5C6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Aa</a:t>
                </a: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676400" y="600075"/>
              <a:ext cx="7493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Poor spelling and grammar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24950" y="5381625"/>
            <a:ext cx="7239000" cy="1666875"/>
            <a:chOff x="0" y="0"/>
            <a:chExt cx="9652000" cy="22225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9652000" cy="2222500"/>
              <a:chOff x="0" y="0"/>
              <a:chExt cx="9652000" cy="22225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652000" cy="2222500"/>
              </a:xfrm>
              <a:custGeom>
                <a:avLst/>
                <a:gdLst/>
                <a:ahLst/>
                <a:cxnLst/>
                <a:rect r="r" b="b" t="t" l="l"/>
                <a:pathLst>
                  <a:path h="22225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2222500"/>
                    </a:lnTo>
                    <a:lnTo>
                      <a:pt x="0" y="2222500"/>
                    </a:ln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9652000" cy="226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330200" y="546100"/>
              <a:ext cx="1092200" cy="1092200"/>
              <a:chOff x="0" y="0"/>
              <a:chExt cx="1092200" cy="10922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FF5C6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↗</a:t>
                </a: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1676400" y="600075"/>
              <a:ext cx="7493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Suspicious links or attachments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8700" y="9429750"/>
            <a:ext cx="16230600" cy="441960"/>
            <a:chOff x="0" y="0"/>
            <a:chExt cx="21640800" cy="589280"/>
          </a:xfrm>
        </p:grpSpPr>
        <p:sp>
          <p:nvSpPr>
            <p:cNvPr name="AutoShape 38" id="38"/>
            <p:cNvSpPr/>
            <p:nvPr/>
          </p:nvSpPr>
          <p:spPr>
            <a:xfrm>
              <a:off x="0" y="12700"/>
              <a:ext cx="21640800" cy="0"/>
            </a:xfrm>
            <a:prstGeom prst="line">
              <a:avLst/>
            </a:prstGeom>
            <a:ln cap="flat" w="25400">
              <a:solidFill>
                <a:srgbClr val="18324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9" id="39"/>
            <p:cNvSpPr txBox="true"/>
            <p:nvPr/>
          </p:nvSpPr>
          <p:spPr>
            <a:xfrm rot="0">
              <a:off x="0" y="298450"/>
              <a:ext cx="9652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8CA2A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PHISHING AWARENESS  •  INTERNSHIP PROJECT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20726400" y="215900"/>
              <a:ext cx="9144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39D9D1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57225"/>
            <a:ext cx="57150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9D9D1"/>
                </a:solidFill>
                <a:latin typeface="DM Sans Bold"/>
                <a:ea typeface="DM Sans Bold"/>
                <a:cs typeface="DM Sans Bold"/>
                <a:sym typeface="DM Sans Bold"/>
              </a:rPr>
              <a:t>CHECK THE DESTINATION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28725"/>
            <a:ext cx="139065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025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Look beyond the page. Check the address.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857500"/>
            <a:ext cx="16230600" cy="3333750"/>
            <a:chOff x="0" y="0"/>
            <a:chExt cx="21640800" cy="4445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1640800" cy="4445000"/>
              <a:chOff x="0" y="0"/>
              <a:chExt cx="21640800" cy="4445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640800" cy="4445000"/>
              </a:xfrm>
              <a:custGeom>
                <a:avLst/>
                <a:gdLst/>
                <a:ahLst/>
                <a:cxnLst/>
                <a:rect r="r" b="b" t="t" l="l"/>
                <a:pathLst>
                  <a:path h="4445000" w="21640800">
                    <a:moveTo>
                      <a:pt x="0" y="0"/>
                    </a:moveTo>
                    <a:lnTo>
                      <a:pt x="21640800" y="0"/>
                    </a:lnTo>
                    <a:lnTo>
                      <a:pt x="216408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FDBDE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1640800" cy="448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041400" y="1143000"/>
              <a:ext cx="19558000" cy="1219200"/>
              <a:chOff x="0" y="0"/>
              <a:chExt cx="19558000" cy="12192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5580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9558000">
                    <a:moveTo>
                      <a:pt x="0" y="0"/>
                    </a:moveTo>
                    <a:lnTo>
                      <a:pt x="19558000" y="0"/>
                    </a:lnTo>
                    <a:lnTo>
                      <a:pt x="19558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E4EC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9558000" cy="1257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723900" y="279400"/>
              <a:ext cx="3175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8CA2AD"/>
                  </a:solidFill>
                  <a:latin typeface="DM Sans"/>
                  <a:ea typeface="DM Sans"/>
                  <a:cs typeface="DM Sans"/>
                  <a:sym typeface="DM Sans"/>
                </a:rPr>
                <a:t>●  ●  ●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739900" y="1412875"/>
              <a:ext cx="2286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27845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https://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835400" y="1412875"/>
              <a:ext cx="10795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F5C6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secure-login.account-check.example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5011400" y="1447800"/>
              <a:ext cx="457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FF5C6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MISMATCHED DOMAIN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3835400" y="2108200"/>
              <a:ext cx="10604500" cy="63500"/>
              <a:chOff x="0" y="0"/>
              <a:chExt cx="10604500" cy="635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6045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10604500">
                    <a:moveTo>
                      <a:pt x="0" y="0"/>
                    </a:moveTo>
                    <a:lnTo>
                      <a:pt x="10604500" y="0"/>
                    </a:lnTo>
                    <a:lnTo>
                      <a:pt x="106045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FF5C6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6045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18" id="18"/>
          <p:cNvSpPr txBox="true"/>
          <p:nvPr/>
        </p:nvSpPr>
        <p:spPr>
          <a:xfrm rot="0">
            <a:off x="1028700" y="7019925"/>
            <a:ext cx="4953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102534"/>
                </a:solidFill>
                <a:latin typeface="DM Sans"/>
                <a:ea typeface="DM Sans"/>
                <a:cs typeface="DM Sans"/>
                <a:sym typeface="DM Sans"/>
              </a:rPr>
              <a:t>Fake sites can look real while stealing your information.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81700" y="7029450"/>
            <a:ext cx="5997395" cy="944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425">
                <a:solidFill>
                  <a:srgbClr val="102534"/>
                </a:solidFill>
                <a:latin typeface="DM Sans"/>
                <a:ea typeface="DM Sans"/>
                <a:cs typeface="DM Sans"/>
                <a:sym typeface="DM Sans"/>
              </a:rPr>
              <a:t>.Check the website address carefully. HTTPS alone does not guarantee that a website is legitimate.</a:t>
            </a:r>
          </a:p>
          <a:p>
            <a:pPr algn="l">
              <a:lnSpc>
                <a:spcPts val="1923"/>
              </a:lnSpc>
            </a:pPr>
          </a:p>
          <a:p>
            <a:pPr algn="l">
              <a:lnSpc>
                <a:spcPts val="1923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287250" y="7029450"/>
            <a:ext cx="4857750" cy="315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02534"/>
                </a:solidFill>
                <a:latin typeface="DM Sans"/>
                <a:ea typeface="DM Sans"/>
                <a:cs typeface="DM Sans"/>
                <a:sym typeface="DM Sans"/>
              </a:rPr>
              <a:t>Avoid clicking links you do not recognize.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8700" y="9429750"/>
            <a:ext cx="16230600" cy="441960"/>
            <a:chOff x="0" y="0"/>
            <a:chExt cx="21640800" cy="589280"/>
          </a:xfrm>
        </p:grpSpPr>
        <p:sp>
          <p:nvSpPr>
            <p:cNvPr name="AutoShape 22" id="22"/>
            <p:cNvSpPr/>
            <p:nvPr/>
          </p:nvSpPr>
          <p:spPr>
            <a:xfrm>
              <a:off x="0" y="12700"/>
              <a:ext cx="21640800" cy="0"/>
            </a:xfrm>
            <a:prstGeom prst="line">
              <a:avLst/>
            </a:prstGeom>
            <a:ln cap="flat" w="25400">
              <a:solidFill>
                <a:srgbClr val="CFDBD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0" y="298450"/>
              <a:ext cx="9652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667D8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PHISHING AWARENESS  •  INTERNSHIP PROJECT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0726400" y="215900"/>
              <a:ext cx="9144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10253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85800"/>
            <a:ext cx="49530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9D9D1"/>
                </a:solidFill>
                <a:latin typeface="DM Sans Bold"/>
                <a:ea typeface="DM Sans Bold"/>
                <a:cs typeface="DM Sans Bold"/>
                <a:sym typeface="DM Sans Bold"/>
              </a:rPr>
              <a:t>HUMAN TARGETING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57300"/>
            <a:ext cx="1285875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The message attacks emotion first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43125"/>
            <a:ext cx="10477500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8CA2AD"/>
                </a:solidFill>
                <a:latin typeface="DM Sans"/>
                <a:ea typeface="DM Sans"/>
                <a:cs typeface="DM Sans"/>
                <a:sym typeface="DM Sans"/>
              </a:rPr>
              <a:t>Social engineering bypasses technology by pressuring people.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429000"/>
            <a:ext cx="4857750" cy="3714750"/>
            <a:chOff x="0" y="0"/>
            <a:chExt cx="6477000" cy="4953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477000" cy="4953000"/>
              <a:chOff x="0" y="0"/>
              <a:chExt cx="6477000" cy="4953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77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477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692400" y="571500"/>
              <a:ext cx="1092200" cy="1092200"/>
              <a:chOff x="0" y="0"/>
              <a:chExt cx="1092200" cy="1092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FF5C6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1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079500" y="2032000"/>
              <a:ext cx="4318000" cy="889000"/>
              <a:chOff x="0" y="0"/>
              <a:chExt cx="4318000" cy="889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318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4318000">
                    <a:moveTo>
                      <a:pt x="52294" y="0"/>
                    </a:moveTo>
                    <a:lnTo>
                      <a:pt x="4265706" y="0"/>
                    </a:lnTo>
                    <a:cubicBezTo>
                      <a:pt x="4294587" y="0"/>
                      <a:pt x="4318000" y="23413"/>
                      <a:pt x="4318000" y="52294"/>
                    </a:cubicBezTo>
                    <a:lnTo>
                      <a:pt x="4318000" y="836706"/>
                    </a:lnTo>
                    <a:cubicBezTo>
                      <a:pt x="4318000" y="865587"/>
                      <a:pt x="4294587" y="889000"/>
                      <a:pt x="4265706" y="889000"/>
                    </a:cubicBezTo>
                    <a:lnTo>
                      <a:pt x="52294" y="889000"/>
                    </a:lnTo>
                    <a:cubicBezTo>
                      <a:pt x="23413" y="889000"/>
                      <a:pt x="0" y="865587"/>
                      <a:pt x="0" y="836706"/>
                    </a:cubicBezTo>
                    <a:lnTo>
                      <a:pt x="0" y="52294"/>
                    </a:lnTo>
                    <a:cubicBezTo>
                      <a:pt x="0" y="23413"/>
                      <a:pt x="23413" y="0"/>
                      <a:pt x="52294" y="0"/>
                    </a:cubicBezTo>
                    <a:close/>
                  </a:path>
                </a:pathLst>
              </a:custGeom>
              <a:solidFill>
                <a:srgbClr val="07131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0"/>
                <a:ext cx="4318000" cy="889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 b="true">
                    <a:solidFill>
                      <a:srgbClr val="FF5C6C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ACT NOW</a:t>
                </a: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33400" y="3136900"/>
              <a:ext cx="5461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Creating fear or urgency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57950" y="3429000"/>
            <a:ext cx="4857750" cy="3714750"/>
            <a:chOff x="0" y="0"/>
            <a:chExt cx="6477000" cy="4953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477000" cy="4953000"/>
              <a:chOff x="0" y="0"/>
              <a:chExt cx="6477000" cy="4953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477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477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692400" y="571500"/>
              <a:ext cx="1092200" cy="1092200"/>
              <a:chOff x="0" y="0"/>
              <a:chExt cx="1092200" cy="10922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B6F36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2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079500" y="2032000"/>
              <a:ext cx="4318000" cy="889000"/>
              <a:chOff x="0" y="0"/>
              <a:chExt cx="4318000" cy="889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318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4318000">
                    <a:moveTo>
                      <a:pt x="52294" y="0"/>
                    </a:moveTo>
                    <a:lnTo>
                      <a:pt x="4265706" y="0"/>
                    </a:lnTo>
                    <a:cubicBezTo>
                      <a:pt x="4294587" y="0"/>
                      <a:pt x="4318000" y="23413"/>
                      <a:pt x="4318000" y="52294"/>
                    </a:cubicBezTo>
                    <a:lnTo>
                      <a:pt x="4318000" y="836706"/>
                    </a:lnTo>
                    <a:cubicBezTo>
                      <a:pt x="4318000" y="865587"/>
                      <a:pt x="4294587" y="889000"/>
                      <a:pt x="4265706" y="889000"/>
                    </a:cubicBezTo>
                    <a:lnTo>
                      <a:pt x="52294" y="889000"/>
                    </a:lnTo>
                    <a:cubicBezTo>
                      <a:pt x="23413" y="889000"/>
                      <a:pt x="0" y="865587"/>
                      <a:pt x="0" y="836706"/>
                    </a:cubicBezTo>
                    <a:lnTo>
                      <a:pt x="0" y="52294"/>
                    </a:lnTo>
                    <a:cubicBezTo>
                      <a:pt x="0" y="23413"/>
                      <a:pt x="23413" y="0"/>
                      <a:pt x="52294" y="0"/>
                    </a:cubicBezTo>
                    <a:close/>
                  </a:path>
                </a:pathLst>
              </a:custGeom>
              <a:solidFill>
                <a:srgbClr val="07131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0"/>
                <a:ext cx="4318000" cy="889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 b="true">
                    <a:solidFill>
                      <a:srgbClr val="B6F36B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YOU WON</a:t>
                </a: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533400" y="3136900"/>
              <a:ext cx="5461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Offering rewards or prizes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87200" y="3429000"/>
            <a:ext cx="4857750" cy="3714750"/>
            <a:chOff x="0" y="0"/>
            <a:chExt cx="6477000" cy="4953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477000" cy="4953000"/>
              <a:chOff x="0" y="0"/>
              <a:chExt cx="6477000" cy="4953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477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477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2692400" y="571500"/>
              <a:ext cx="1092200" cy="1092200"/>
              <a:chOff x="0" y="0"/>
              <a:chExt cx="1092200" cy="10922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39D9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3</a:t>
                </a: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079500" y="2032000"/>
              <a:ext cx="4318000" cy="889000"/>
              <a:chOff x="0" y="0"/>
              <a:chExt cx="4318000" cy="889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318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4318000">
                    <a:moveTo>
                      <a:pt x="52294" y="0"/>
                    </a:moveTo>
                    <a:lnTo>
                      <a:pt x="4265706" y="0"/>
                    </a:lnTo>
                    <a:cubicBezTo>
                      <a:pt x="4294587" y="0"/>
                      <a:pt x="4318000" y="23413"/>
                      <a:pt x="4318000" y="52294"/>
                    </a:cubicBezTo>
                    <a:lnTo>
                      <a:pt x="4318000" y="836706"/>
                    </a:lnTo>
                    <a:cubicBezTo>
                      <a:pt x="4318000" y="865587"/>
                      <a:pt x="4294587" y="889000"/>
                      <a:pt x="4265706" y="889000"/>
                    </a:cubicBezTo>
                    <a:lnTo>
                      <a:pt x="52294" y="889000"/>
                    </a:lnTo>
                    <a:cubicBezTo>
                      <a:pt x="23413" y="889000"/>
                      <a:pt x="0" y="865587"/>
                      <a:pt x="0" y="836706"/>
                    </a:cubicBezTo>
                    <a:lnTo>
                      <a:pt x="0" y="52294"/>
                    </a:lnTo>
                    <a:cubicBezTo>
                      <a:pt x="0" y="23413"/>
                      <a:pt x="23413" y="0"/>
                      <a:pt x="52294" y="0"/>
                    </a:cubicBezTo>
                    <a:close/>
                  </a:path>
                </a:pathLst>
              </a:custGeom>
              <a:solidFill>
                <a:srgbClr val="07131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0"/>
                <a:ext cx="4318000" cy="889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 b="true">
                    <a:solidFill>
                      <a:srgbClr val="39D9D1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IT’S ME</a:t>
                </a: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533400" y="3136900"/>
              <a:ext cx="5461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Pretending to be a trusted person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8700" y="9429750"/>
            <a:ext cx="16230600" cy="441960"/>
            <a:chOff x="0" y="0"/>
            <a:chExt cx="21640800" cy="589280"/>
          </a:xfrm>
        </p:grpSpPr>
        <p:sp>
          <p:nvSpPr>
            <p:cNvPr name="AutoShape 39" id="39"/>
            <p:cNvSpPr/>
            <p:nvPr/>
          </p:nvSpPr>
          <p:spPr>
            <a:xfrm>
              <a:off x="0" y="12700"/>
              <a:ext cx="21640800" cy="0"/>
            </a:xfrm>
            <a:prstGeom prst="line">
              <a:avLst/>
            </a:prstGeom>
            <a:ln cap="flat" w="25400">
              <a:solidFill>
                <a:srgbClr val="18324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0" id="40"/>
            <p:cNvSpPr txBox="true"/>
            <p:nvPr/>
          </p:nvSpPr>
          <p:spPr>
            <a:xfrm rot="0">
              <a:off x="0" y="298450"/>
              <a:ext cx="9652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8CA2A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PHISHING AWARENESS  •  INTERNSHIP PROJECT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20726400" y="215900"/>
              <a:ext cx="9144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39D9D1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572500" cy="10287000"/>
          </a:xfrm>
          <a:custGeom>
            <a:avLst/>
            <a:gdLst/>
            <a:ahLst/>
            <a:cxnLst/>
            <a:rect r="r" b="b" t="t" l="l"/>
            <a:pathLst>
              <a:path h="10287000" w="8572500">
                <a:moveTo>
                  <a:pt x="0" y="0"/>
                </a:moveTo>
                <a:lnTo>
                  <a:pt x="8572500" y="0"/>
                </a:lnTo>
                <a:lnTo>
                  <a:pt x="8572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" r="0" b="-5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620250" y="876300"/>
            <a:ext cx="6667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9D9D1"/>
                </a:solidFill>
                <a:latin typeface="DM Sans Bold"/>
                <a:ea typeface="DM Sans Bold"/>
                <a:cs typeface="DM Sans Bold"/>
                <a:sym typeface="DM Sans Bold"/>
              </a:rPr>
              <a:t>CASE STUDY  /  2025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20250" y="1600200"/>
            <a:ext cx="723900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b="true">
                <a:solidFill>
                  <a:srgbClr val="1025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CASE STUDY / EXAMPLE.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620250" y="4381500"/>
            <a:ext cx="6667500" cy="47625"/>
            <a:chOff x="0" y="0"/>
            <a:chExt cx="8890000" cy="63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90000" cy="63500"/>
            </a:xfrm>
            <a:custGeom>
              <a:avLst/>
              <a:gdLst/>
              <a:ahLst/>
              <a:cxnLst/>
              <a:rect r="r" b="b" t="t" l="l"/>
              <a:pathLst>
                <a:path h="635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39D9D1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890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0" y="4714875"/>
            <a:ext cx="619125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02534"/>
                </a:solidFill>
                <a:latin typeface="DM Sans"/>
                <a:ea typeface="DM Sans"/>
                <a:cs typeface="DM Sans"/>
                <a:sym typeface="DM Sans"/>
              </a:rPr>
              <a:t>01  A fake email appeared to come from a manager..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0" y="5857875"/>
            <a:ext cx="619125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102534"/>
                </a:solidFill>
                <a:latin typeface="DM Sans"/>
                <a:ea typeface="DM Sans"/>
                <a:cs typeface="DM Sans"/>
                <a:sym typeface="DM Sans"/>
              </a:rPr>
              <a:t>02  Employees clicked the link and entered their passwords.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0" y="7000875"/>
            <a:ext cx="619125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FF5C6C"/>
                </a:solidFill>
                <a:latin typeface="DM Sans Bold"/>
                <a:ea typeface="DM Sans Bold"/>
                <a:cs typeface="DM Sans Bold"/>
                <a:sym typeface="DM Sans Bold"/>
              </a:rPr>
              <a:t>03  The stolen credentials could give attackers unauthorized access..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9429750"/>
            <a:ext cx="16230600" cy="441960"/>
            <a:chOff x="0" y="0"/>
            <a:chExt cx="21640800" cy="589280"/>
          </a:xfrm>
        </p:grpSpPr>
        <p:sp>
          <p:nvSpPr>
            <p:cNvPr name="AutoShape 12" id="12"/>
            <p:cNvSpPr/>
            <p:nvPr/>
          </p:nvSpPr>
          <p:spPr>
            <a:xfrm>
              <a:off x="0" y="12700"/>
              <a:ext cx="21640800" cy="0"/>
            </a:xfrm>
            <a:prstGeom prst="line">
              <a:avLst/>
            </a:prstGeom>
            <a:ln cap="flat" w="25400">
              <a:solidFill>
                <a:srgbClr val="CFDBD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298450"/>
              <a:ext cx="9652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667D8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PHISHING AWARENESS  •  INTERNSHIP PROJECT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0726400" y="215900"/>
              <a:ext cx="9144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10253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57225"/>
            <a:ext cx="49530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9D9D1"/>
                </a:solidFill>
                <a:latin typeface="DM Sans Bold"/>
                <a:ea typeface="DM Sans Bold"/>
                <a:cs typeface="DM Sans Bold"/>
                <a:sym typeface="DM Sans Bold"/>
              </a:rPr>
              <a:t>DEFENSE HABITS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28725"/>
            <a:ext cx="135255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Four small habits. One strong defense.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143250"/>
            <a:ext cx="7239000" cy="1809750"/>
            <a:chOff x="0" y="0"/>
            <a:chExt cx="9652000" cy="2413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652000" cy="2413000"/>
              <a:chOff x="0" y="0"/>
              <a:chExt cx="9652000" cy="2413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652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9652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431800" y="304800"/>
              <a:ext cx="1092200" cy="1092200"/>
              <a:chOff x="0" y="0"/>
              <a:chExt cx="1092200" cy="10922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39D9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01</a:t>
                </a: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803400" y="434975"/>
              <a:ext cx="5334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39D9D1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THINK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33400" y="1450975"/>
              <a:ext cx="8128000" cy="481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Think before you click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24950" y="3143250"/>
            <a:ext cx="7239000" cy="1809750"/>
            <a:chOff x="0" y="0"/>
            <a:chExt cx="9652000" cy="2413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652000" cy="2413000"/>
              <a:chOff x="0" y="0"/>
              <a:chExt cx="9652000" cy="2413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652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9652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431800" y="304800"/>
              <a:ext cx="1092200" cy="1092200"/>
              <a:chOff x="0" y="0"/>
              <a:chExt cx="1092200" cy="10922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39D9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02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803400" y="434975"/>
              <a:ext cx="5334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39D9D1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VERIFY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33400" y="1450975"/>
              <a:ext cx="8128000" cy="481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Verify the sender’s identity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5476875"/>
            <a:ext cx="7239000" cy="1809750"/>
            <a:chOff x="0" y="0"/>
            <a:chExt cx="9652000" cy="2413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652000" cy="2413000"/>
              <a:chOff x="0" y="0"/>
              <a:chExt cx="9652000" cy="2413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652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9652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431800" y="304800"/>
              <a:ext cx="1092200" cy="1092200"/>
              <a:chOff x="0" y="0"/>
              <a:chExt cx="1092200" cy="10922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39D9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03</a:t>
                </a: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803400" y="434975"/>
              <a:ext cx="5334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39D9D1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UNIQUE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533400" y="1450975"/>
              <a:ext cx="8128000" cy="481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Use strong, unique passwords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24950" y="5476875"/>
            <a:ext cx="7239000" cy="1809750"/>
            <a:chOff x="0" y="0"/>
            <a:chExt cx="9652000" cy="2413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9652000" cy="2413000"/>
              <a:chOff x="0" y="0"/>
              <a:chExt cx="9652000" cy="2413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652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9652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431800" y="304800"/>
              <a:ext cx="1092200" cy="1092200"/>
              <a:chOff x="0" y="0"/>
              <a:chExt cx="1092200" cy="1092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B6F36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04</a:t>
                </a: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803400" y="434975"/>
              <a:ext cx="5334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39D9D1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UPDATE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533400" y="1450975"/>
              <a:ext cx="8128000" cy="481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Keep software updated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28700" y="9429750"/>
            <a:ext cx="16230600" cy="441960"/>
            <a:chOff x="0" y="0"/>
            <a:chExt cx="21640800" cy="589280"/>
          </a:xfrm>
        </p:grpSpPr>
        <p:sp>
          <p:nvSpPr>
            <p:cNvPr name="AutoShape 41" id="41"/>
            <p:cNvSpPr/>
            <p:nvPr/>
          </p:nvSpPr>
          <p:spPr>
            <a:xfrm>
              <a:off x="0" y="12700"/>
              <a:ext cx="21640800" cy="0"/>
            </a:xfrm>
            <a:prstGeom prst="line">
              <a:avLst/>
            </a:prstGeom>
            <a:ln cap="flat" w="25400">
              <a:solidFill>
                <a:srgbClr val="18324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2" id="42"/>
            <p:cNvSpPr txBox="true"/>
            <p:nvPr/>
          </p:nvSpPr>
          <p:spPr>
            <a:xfrm rot="0">
              <a:off x="0" y="298450"/>
              <a:ext cx="9652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8CA2A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PHISHING AWARENESS  •  INTERNSHIP PROJECT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0726400" y="215900"/>
              <a:ext cx="9144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39D9D1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85800"/>
            <a:ext cx="49530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9D9D1"/>
                </a:solidFill>
                <a:latin typeface="DM Sans Bold"/>
                <a:ea typeface="DM Sans Bold"/>
                <a:cs typeface="DM Sans Bold"/>
                <a:sym typeface="DM Sans Bold"/>
              </a:rPr>
              <a:t>WHEN IN DOUBT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57300"/>
            <a:ext cx="123825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025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Stop. Report. Remove.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43125"/>
            <a:ext cx="9525000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8CA2AD"/>
                </a:solidFill>
                <a:latin typeface="DM Sans"/>
                <a:ea typeface="DM Sans"/>
                <a:cs typeface="DM Sans"/>
                <a:sym typeface="DM Sans"/>
              </a:rPr>
              <a:t>Do not investigate a suspicious message by clicking through it.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28750" y="3381375"/>
            <a:ext cx="4857750" cy="3177540"/>
            <a:chOff x="0" y="0"/>
            <a:chExt cx="6477000" cy="423672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2692400" y="0"/>
              <a:ext cx="1092200" cy="1092200"/>
              <a:chOff x="0" y="0"/>
              <a:chExt cx="1092200" cy="10922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FF5C6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1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587500"/>
              <a:ext cx="6477000" cy="1397000"/>
              <a:chOff x="0" y="0"/>
              <a:chExt cx="6477000" cy="1397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7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6477000">
                    <a:moveTo>
                      <a:pt x="34863" y="0"/>
                    </a:moveTo>
                    <a:lnTo>
                      <a:pt x="6442137" y="0"/>
                    </a:lnTo>
                    <a:cubicBezTo>
                      <a:pt x="6461391" y="0"/>
                      <a:pt x="6477000" y="15609"/>
                      <a:pt x="6477000" y="34863"/>
                    </a:cubicBezTo>
                    <a:lnTo>
                      <a:pt x="6477000" y="1362137"/>
                    </a:lnTo>
                    <a:cubicBezTo>
                      <a:pt x="6477000" y="1381391"/>
                      <a:pt x="6461391" y="1397000"/>
                      <a:pt x="6442137" y="1397000"/>
                    </a:cubicBezTo>
                    <a:lnTo>
                      <a:pt x="34863" y="1397000"/>
                    </a:lnTo>
                    <a:cubicBezTo>
                      <a:pt x="15609" y="1397000"/>
                      <a:pt x="0" y="1381391"/>
                      <a:pt x="0" y="1362137"/>
                    </a:cubicBezTo>
                    <a:lnTo>
                      <a:pt x="0" y="34863"/>
                    </a:lnTo>
                    <a:cubicBezTo>
                      <a:pt x="0" y="15609"/>
                      <a:pt x="15609" y="0"/>
                      <a:pt x="34863" y="0"/>
                    </a:cubicBez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6477000" cy="1397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 b="true">
                    <a:solidFill>
                      <a:srgbClr val="FFFFF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STOP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444500" y="3327400"/>
              <a:ext cx="5588000" cy="909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>
                  <a:solidFill>
                    <a:srgbClr val="102534"/>
                  </a:solidFill>
                  <a:latin typeface="DM Sans"/>
                  <a:ea typeface="DM Sans"/>
                  <a:cs typeface="DM Sans"/>
                  <a:sym typeface="DM Sans"/>
                </a:rPr>
                <a:t>Don’t click links or download attachments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53250" y="3381375"/>
            <a:ext cx="4857750" cy="2825115"/>
            <a:chOff x="0" y="0"/>
            <a:chExt cx="6477000" cy="376682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2692400" y="0"/>
              <a:ext cx="1092200" cy="1092200"/>
              <a:chOff x="0" y="0"/>
              <a:chExt cx="1092200" cy="1092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39D9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2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587500"/>
              <a:ext cx="6477000" cy="1397000"/>
              <a:chOff x="0" y="0"/>
              <a:chExt cx="6477000" cy="1397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47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6477000">
                    <a:moveTo>
                      <a:pt x="34863" y="0"/>
                    </a:moveTo>
                    <a:lnTo>
                      <a:pt x="6442137" y="0"/>
                    </a:lnTo>
                    <a:cubicBezTo>
                      <a:pt x="6461391" y="0"/>
                      <a:pt x="6477000" y="15609"/>
                      <a:pt x="6477000" y="34863"/>
                    </a:cubicBezTo>
                    <a:lnTo>
                      <a:pt x="6477000" y="1362137"/>
                    </a:lnTo>
                    <a:cubicBezTo>
                      <a:pt x="6477000" y="1381391"/>
                      <a:pt x="6461391" y="1397000"/>
                      <a:pt x="6442137" y="1397000"/>
                    </a:cubicBezTo>
                    <a:lnTo>
                      <a:pt x="34863" y="1397000"/>
                    </a:lnTo>
                    <a:cubicBezTo>
                      <a:pt x="15609" y="1397000"/>
                      <a:pt x="0" y="1381391"/>
                      <a:pt x="0" y="1362137"/>
                    </a:cubicBezTo>
                    <a:lnTo>
                      <a:pt x="0" y="34863"/>
                    </a:lnTo>
                    <a:cubicBezTo>
                      <a:pt x="0" y="15609"/>
                      <a:pt x="15609" y="0"/>
                      <a:pt x="34863" y="0"/>
                    </a:cubicBez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6477000" cy="1397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 b="true">
                    <a:solidFill>
                      <a:srgbClr val="FFFFF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REPORT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44500" y="3327400"/>
              <a:ext cx="5588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>
                  <a:solidFill>
                    <a:srgbClr val="102534"/>
                  </a:solidFill>
                  <a:latin typeface="DM Sans"/>
                  <a:ea typeface="DM Sans"/>
                  <a:cs typeface="DM Sans"/>
                  <a:sym typeface="DM Sans"/>
                </a:rPr>
                <a:t>Send it to your IT or security team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7750" y="3381375"/>
            <a:ext cx="4857750" cy="2825115"/>
            <a:chOff x="0" y="0"/>
            <a:chExt cx="6477000" cy="376682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2692400" y="0"/>
              <a:ext cx="1092200" cy="1092200"/>
              <a:chOff x="0" y="0"/>
              <a:chExt cx="1092200" cy="10922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B6F36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3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1587500"/>
              <a:ext cx="6477000" cy="1397000"/>
              <a:chOff x="0" y="0"/>
              <a:chExt cx="6477000" cy="1397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47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6477000">
                    <a:moveTo>
                      <a:pt x="34863" y="0"/>
                    </a:moveTo>
                    <a:lnTo>
                      <a:pt x="6442137" y="0"/>
                    </a:lnTo>
                    <a:cubicBezTo>
                      <a:pt x="6461391" y="0"/>
                      <a:pt x="6477000" y="15609"/>
                      <a:pt x="6477000" y="34863"/>
                    </a:cubicBezTo>
                    <a:lnTo>
                      <a:pt x="6477000" y="1362137"/>
                    </a:lnTo>
                    <a:cubicBezTo>
                      <a:pt x="6477000" y="1381391"/>
                      <a:pt x="6461391" y="1397000"/>
                      <a:pt x="6442137" y="1397000"/>
                    </a:cubicBezTo>
                    <a:lnTo>
                      <a:pt x="34863" y="1397000"/>
                    </a:lnTo>
                    <a:cubicBezTo>
                      <a:pt x="15609" y="1397000"/>
                      <a:pt x="0" y="1381391"/>
                      <a:pt x="0" y="1362137"/>
                    </a:cubicBezTo>
                    <a:lnTo>
                      <a:pt x="0" y="34863"/>
                    </a:lnTo>
                    <a:cubicBezTo>
                      <a:pt x="0" y="15609"/>
                      <a:pt x="15609" y="0"/>
                      <a:pt x="34863" y="0"/>
                    </a:cubicBezTo>
                    <a:close/>
                  </a:path>
                </a:pathLst>
              </a:custGeom>
              <a:solidFill>
                <a:srgbClr val="10253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0"/>
                <a:ext cx="6477000" cy="1397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 b="true">
                    <a:solidFill>
                      <a:srgbClr val="FFFFF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REMOVE</a:t>
                </a: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44500" y="3327400"/>
              <a:ext cx="5588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>
                  <a:solidFill>
                    <a:srgbClr val="102534"/>
                  </a:solidFill>
                  <a:latin typeface="DM Sans"/>
                  <a:ea typeface="DM Sans"/>
                  <a:cs typeface="DM Sans"/>
                  <a:sym typeface="DM Sans"/>
                </a:rPr>
                <a:t>Delete the message safely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8700" y="9429750"/>
            <a:ext cx="16230600" cy="441960"/>
            <a:chOff x="0" y="0"/>
            <a:chExt cx="21640800" cy="589280"/>
          </a:xfrm>
        </p:grpSpPr>
        <p:sp>
          <p:nvSpPr>
            <p:cNvPr name="AutoShape 30" id="30"/>
            <p:cNvSpPr/>
            <p:nvPr/>
          </p:nvSpPr>
          <p:spPr>
            <a:xfrm>
              <a:off x="0" y="12700"/>
              <a:ext cx="21640800" cy="0"/>
            </a:xfrm>
            <a:prstGeom prst="line">
              <a:avLst/>
            </a:prstGeom>
            <a:ln cap="flat" w="25400">
              <a:solidFill>
                <a:srgbClr val="CFDBD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1" id="31"/>
            <p:cNvSpPr txBox="true"/>
            <p:nvPr/>
          </p:nvSpPr>
          <p:spPr>
            <a:xfrm rot="0">
              <a:off x="0" y="298450"/>
              <a:ext cx="9652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667D8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PHISHING AWARENESS  •  INTERNSHIP PROJECT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0726400" y="215900"/>
              <a:ext cx="9144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10253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90550"/>
            <a:ext cx="49530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9D9D1"/>
                </a:solidFill>
                <a:latin typeface="DM Sans Bold"/>
                <a:ea typeface="DM Sans Bold"/>
                <a:cs typeface="DM Sans Bold"/>
                <a:sym typeface="DM Sans Bold"/>
              </a:rPr>
              <a:t>INTERACTIVE QUIZ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162050"/>
            <a:ext cx="114300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Test your phishing radar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47875"/>
            <a:ext cx="809625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Answer aloud or discuss with a partner.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7750" y="3143250"/>
            <a:ext cx="15525750" cy="819150"/>
            <a:chOff x="0" y="0"/>
            <a:chExt cx="20701000" cy="10922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92200" cy="1092200"/>
              <a:chOff x="0" y="0"/>
              <a:chExt cx="1092200" cy="10922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39D9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1</a:t>
                </a: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524000" y="206375"/>
              <a:ext cx="18034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What is phishing?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524000" y="1016000"/>
              <a:ext cx="19177000" cy="0"/>
            </a:xfrm>
            <a:prstGeom prst="line">
              <a:avLst/>
            </a:prstGeom>
            <a:ln cap="flat" w="25400">
              <a:solidFill>
                <a:srgbClr val="18324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47750" y="4238625"/>
            <a:ext cx="15525750" cy="819150"/>
            <a:chOff x="0" y="0"/>
            <a:chExt cx="20701000" cy="10922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092200" cy="1092200"/>
              <a:chOff x="0" y="0"/>
              <a:chExt cx="1092200" cy="10922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39D9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2</a:t>
                </a: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524000" y="206375"/>
              <a:ext cx="18034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Name one type of phishing.</a:t>
              </a:r>
            </a:p>
          </p:txBody>
        </p:sp>
        <p:sp>
          <p:nvSpPr>
            <p:cNvPr name="AutoShape 16" id="16"/>
            <p:cNvSpPr/>
            <p:nvPr/>
          </p:nvSpPr>
          <p:spPr>
            <a:xfrm>
              <a:off x="1524000" y="1016000"/>
              <a:ext cx="19177000" cy="0"/>
            </a:xfrm>
            <a:prstGeom prst="line">
              <a:avLst/>
            </a:prstGeom>
            <a:ln cap="flat" w="25400">
              <a:solidFill>
                <a:srgbClr val="18324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47750" y="5334000"/>
            <a:ext cx="15525750" cy="819150"/>
            <a:chOff x="0" y="0"/>
            <a:chExt cx="20701000" cy="10922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092200" cy="1092200"/>
              <a:chOff x="0" y="0"/>
              <a:chExt cx="1092200" cy="10922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39D9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3</a:t>
                </a: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524000" y="206375"/>
              <a:ext cx="18034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What is one warning sign?</a:t>
              </a:r>
            </a:p>
          </p:txBody>
        </p:sp>
        <p:sp>
          <p:nvSpPr>
            <p:cNvPr name="AutoShape 22" id="22"/>
            <p:cNvSpPr/>
            <p:nvPr/>
          </p:nvSpPr>
          <p:spPr>
            <a:xfrm>
              <a:off x="1524000" y="1016000"/>
              <a:ext cx="19177000" cy="0"/>
            </a:xfrm>
            <a:prstGeom prst="line">
              <a:avLst/>
            </a:prstGeom>
            <a:ln cap="flat" w="25400">
              <a:solidFill>
                <a:srgbClr val="18324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47750" y="6429375"/>
            <a:ext cx="15525750" cy="819150"/>
            <a:chOff x="0" y="0"/>
            <a:chExt cx="20701000" cy="10922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92200" cy="1092200"/>
              <a:chOff x="0" y="0"/>
              <a:chExt cx="1092200" cy="10922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39D9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4</a:t>
                </a: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524000" y="206375"/>
              <a:ext cx="18034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Click links from unknown senders?</a:t>
              </a:r>
            </a:p>
          </p:txBody>
        </p:sp>
        <p:sp>
          <p:nvSpPr>
            <p:cNvPr name="AutoShape 28" id="28"/>
            <p:cNvSpPr/>
            <p:nvPr/>
          </p:nvSpPr>
          <p:spPr>
            <a:xfrm>
              <a:off x="1524000" y="1016000"/>
              <a:ext cx="19177000" cy="0"/>
            </a:xfrm>
            <a:prstGeom prst="line">
              <a:avLst/>
            </a:prstGeom>
            <a:ln cap="flat" w="25400">
              <a:solidFill>
                <a:srgbClr val="18324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47750" y="7524750"/>
            <a:ext cx="15525750" cy="819150"/>
            <a:chOff x="0" y="0"/>
            <a:chExt cx="20701000" cy="10922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092200" cy="1092200"/>
              <a:chOff x="0" y="0"/>
              <a:chExt cx="1092200" cy="10922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0922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1092200">
                    <a:moveTo>
                      <a:pt x="546100" y="0"/>
                    </a:moveTo>
                    <a:cubicBezTo>
                      <a:pt x="847703" y="0"/>
                      <a:pt x="1092200" y="244497"/>
                      <a:pt x="1092200" y="546100"/>
                    </a:cubicBezTo>
                    <a:cubicBezTo>
                      <a:pt x="1092200" y="847703"/>
                      <a:pt x="847703" y="1092200"/>
                      <a:pt x="546100" y="1092200"/>
                    </a:cubicBezTo>
                    <a:cubicBezTo>
                      <a:pt x="244497" y="1092200"/>
                      <a:pt x="0" y="847703"/>
                      <a:pt x="0" y="546100"/>
                    </a:cubicBezTo>
                    <a:cubicBezTo>
                      <a:pt x="0" y="244497"/>
                      <a:pt x="244497" y="0"/>
                      <a:pt x="546100" y="0"/>
                    </a:cubicBezTo>
                    <a:close/>
                  </a:path>
                </a:pathLst>
              </a:custGeom>
              <a:solidFill>
                <a:srgbClr val="B6F36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1092200" cy="1139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  <a:r>
                  <a:rPr lang="en-US" sz="2175" b="true">
                    <a:solidFill>
                      <a:srgbClr val="07131F"/>
                    </a:solidFill>
                    <a:latin typeface="Akzidenz-Grotesk Bold"/>
                    <a:ea typeface="Akzidenz-Grotesk Bold"/>
                    <a:cs typeface="Akzidenz-Grotesk Bold"/>
                    <a:sym typeface="Akzidenz-Grotesk Bold"/>
                  </a:rPr>
                  <a:t>5</a:t>
                </a: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524000" y="206375"/>
              <a:ext cx="18034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What should you do with a suspicious message?</a:t>
              </a:r>
            </a:p>
          </p:txBody>
        </p:sp>
        <p:sp>
          <p:nvSpPr>
            <p:cNvPr name="AutoShape 34" id="34"/>
            <p:cNvSpPr/>
            <p:nvPr/>
          </p:nvSpPr>
          <p:spPr>
            <a:xfrm>
              <a:off x="1524000" y="1016000"/>
              <a:ext cx="19177000" cy="0"/>
            </a:xfrm>
            <a:prstGeom prst="line">
              <a:avLst/>
            </a:prstGeom>
            <a:ln cap="flat" w="25400">
              <a:solidFill>
                <a:srgbClr val="18324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028700" y="9429750"/>
            <a:ext cx="16230600" cy="441960"/>
            <a:chOff x="0" y="0"/>
            <a:chExt cx="21640800" cy="589280"/>
          </a:xfrm>
        </p:grpSpPr>
        <p:sp>
          <p:nvSpPr>
            <p:cNvPr name="AutoShape 36" id="36"/>
            <p:cNvSpPr/>
            <p:nvPr/>
          </p:nvSpPr>
          <p:spPr>
            <a:xfrm>
              <a:off x="0" y="12700"/>
              <a:ext cx="21640800" cy="0"/>
            </a:xfrm>
            <a:prstGeom prst="line">
              <a:avLst/>
            </a:prstGeom>
            <a:ln cap="flat" w="25400">
              <a:solidFill>
                <a:srgbClr val="18324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7" id="37"/>
            <p:cNvSpPr txBox="true"/>
            <p:nvPr/>
          </p:nvSpPr>
          <p:spPr>
            <a:xfrm rot="0">
              <a:off x="0" y="298450"/>
              <a:ext cx="9652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b="true" sz="1350" spc="10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PHISHING AWARENESS  •  INTERNSHIP PROJECT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0726400" y="215900"/>
              <a:ext cx="9144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sz="1650" b="true">
                  <a:solidFill>
                    <a:srgbClr val="39D9D1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11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107100" y="3872865"/>
            <a:ext cx="809625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Answer.A cyber attack that tricks people into giving information.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199128" y="4940827"/>
            <a:ext cx="809625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Answer  Email phishing / Smishing / Vishing / Spear phishing..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107100" y="5885126"/>
            <a:ext cx="809625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Answer .Urgency, strange sender, poor grammar, or suspicious link.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107100" y="7041832"/>
            <a:ext cx="809625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Answer  No..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933575" y="8166735"/>
            <a:ext cx="809625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Answer .Don't click it, report it, and safely remove it.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31F">
                <a:alpha val="6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114425"/>
            <a:ext cx="4762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9D9D1"/>
                </a:solidFill>
                <a:latin typeface="DM Sans Bold"/>
                <a:ea typeface="DM Sans Bold"/>
                <a:cs typeface="DM Sans Bold"/>
                <a:sym typeface="DM Sans Bold"/>
              </a:rPr>
              <a:t>KEY TAKEAWAY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162175"/>
            <a:ext cx="9048750" cy="294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4"/>
              </a:lnSpc>
            </a:pPr>
            <a:r>
              <a:rPr lang="en-US" sz="78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Stay alert.</a:t>
            </a:r>
          </a:p>
          <a:p>
            <a:pPr algn="l">
              <a:lnSpc>
                <a:spcPts val="7644"/>
              </a:lnSpc>
            </a:pPr>
            <a:r>
              <a:rPr lang="en-US" sz="78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Protect your</a:t>
            </a:r>
          </a:p>
          <a:p>
            <a:pPr algn="l">
              <a:lnSpc>
                <a:spcPts val="7644"/>
              </a:lnSpc>
            </a:pPr>
            <a:r>
              <a:rPr lang="en-US" sz="78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information.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5810250"/>
            <a:ext cx="1238250" cy="57150"/>
            <a:chOff x="0" y="0"/>
            <a:chExt cx="16510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51000" cy="76200"/>
            </a:xfrm>
            <a:custGeom>
              <a:avLst/>
              <a:gdLst/>
              <a:ahLst/>
              <a:cxnLst/>
              <a:rect r="r" b="b" t="t" l="l"/>
              <a:pathLst>
                <a:path h="76200" w="1651000">
                  <a:moveTo>
                    <a:pt x="0" y="0"/>
                  </a:moveTo>
                  <a:lnTo>
                    <a:pt x="1651000" y="0"/>
                  </a:lnTo>
                  <a:lnTo>
                    <a:pt x="165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9D9D1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51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6143625"/>
            <a:ext cx="7620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Phishing can be stopped when you know the signs.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477125"/>
            <a:ext cx="6858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B6F36B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 for participating.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7500" y="8534400"/>
            <a:ext cx="2857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5"/>
              </a:lnSpc>
            </a:pPr>
            <a:r>
              <a:rPr lang="en-US" sz="1875" b="true">
                <a:solidFill>
                  <a:srgbClr val="39D9D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DAHXYyuXYU8</dc:identifier>
  <dcterms:modified xsi:type="dcterms:W3CDTF">2011-08-01T06:04:30Z</dcterms:modified>
  <cp:revision>1</cp:revision>
  <dc:title>Phishing Awareness Training</dc:title>
</cp:coreProperties>
</file>